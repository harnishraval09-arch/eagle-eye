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9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7" dt="2026-09-28T08:22:41.808"/>
    <p1510:client id="{796F1F93-F8AF-427F-9800-2B13CD972B9F}" v="301" dt="2026-09-28T08:55:23.707"/>
    <p1510:client id="{B83FB2E8-F1E2-9C5D-D5E0-52C0692E6F66}" v="30" dt="2026-09-28T08:24:58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 — 15 seconds. Lead with the name and one sentence about what it does. Let the tagline breathe. Do not read the description — just say: This is not a chatbot wrapper. This is a calibrated forensic identity built on Bob.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seconds. Hit the scale of the problem fast. Pause after the three stat boxes. Then pivot: the system today is manual, slow, and inconsistent.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seconds. This is the solution in one sentence. Emphasise: not prompting a generic AI — a calibrated identity with real forensic tools behind it. Walk left to right across the diagram.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seconds. Four layers — spend 6-7 seconds per layer. The key message: each layer is a genuine Bob product feature being used for a real purpose, not a workaround.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seconds. Walk through each step with one word each. Then land on the real example at the bottom — this is an actual case output, not a mockup.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seconds. Show the report structure quickly. Emphasise that a lawyer or judge can use this the same day. The Section 45 declaration is what makes it legally valid — EagleEye generates it automatically.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seconds. Read the left column fast, let judges absorb the right. Key emphasis: this is genuinely using Bob as a platform — not a thin wrapper.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 seconds. Don't linger here. Just say: every tool is chosen for a forensic purpose — nothing is arbitrary. Then move.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 — 10 seconds. Just read the tagline out loud and stop. Let the silence work. If judges ask one question, it will be: how do you handle real document images? Your answer: that is our Phase 2 — live image ingestion via OpenCV. Right now the demo proves the reasoning engine is solid.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ag"/>
          <p:cNvSpPr txBox="1"/>
          <p:nvPr/>
        </p:nvSpPr>
        <p:spPr>
          <a:xfrm>
            <a:off x="540000" y="539999"/>
            <a:ext cx="360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F6"/>
                </a:solidFill>
              </a:rPr>
              <a:t>IBM x NFSU INNOVAI HACKATHON 2026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540000" y="791999"/>
            <a:ext cx="10080000" cy="1764387"/>
          </a:xfrm>
          <a:prstGeom prst="rect">
            <a:avLst/>
          </a:prstGeom>
          <a:noFill/>
        </p:spPr>
        <p:txBody>
          <a:bodyPr/>
          <a:lstStyle/>
          <a:p>
            <a:endParaRPr lang="en-US" sz="5400" b="1">
              <a:solidFill>
                <a:srgbClr val="FFFFFF"/>
              </a:solidFill>
            </a:endParaRPr>
          </a:p>
          <a:p>
            <a:r>
              <a:rPr lang="en-US" sz="5400" b="1">
                <a:solidFill>
                  <a:srgbClr val="FFFFFF"/>
                </a:solidFill>
              </a:rPr>
              <a:t>Eagle-Eye</a:t>
            </a:r>
          </a:p>
        </p:txBody>
      </p:sp>
      <p:sp>
        <p:nvSpPr>
          <p:cNvPr id="100002" name="Sub"/>
          <p:cNvSpPr txBox="1"/>
          <p:nvPr/>
        </p:nvSpPr>
        <p:spPr>
          <a:xfrm>
            <a:off x="540000" y="3214935"/>
            <a:ext cx="5752645" cy="540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2600" b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Document Forgery Detection</a:t>
            </a:r>
          </a:p>
        </p:txBody>
      </p:sp>
      <p:sp>
        <p:nvSpPr>
          <p:cNvPr id="100003" name="Desc"/>
          <p:cNvSpPr txBox="1"/>
          <p:nvPr/>
        </p:nvSpPr>
        <p:spPr>
          <a:xfrm>
            <a:off x="540000" y="4413484"/>
            <a:ext cx="7920000" cy="720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600" b="0">
                <a:solidFill>
                  <a:srgbClr val="F0B9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digital forensic examiner that classifies anomalies, scores forgery confidence, and generates court-admissible expert reports.</a:t>
            </a:r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1A38DB4E-F354-AB15-7F0B-9CB975592DC1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02" grpId="0" animBg="1"/>
      <p:bldP spid="10000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SlideNum"/>
          <p:cNvSpPr txBox="1"/>
          <p:nvPr/>
        </p:nvSpPr>
        <p:spPr>
          <a:xfrm>
            <a:off x="540000" y="360000"/>
            <a:ext cx="43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>
                <a:solidFill>
                  <a:srgbClr val="3B82F6"/>
                </a:solidFill>
              </a:rPr>
              <a:t>01 / THE PROBLEM</a:t>
            </a:r>
          </a:p>
        </p:txBody>
      </p:sp>
      <p:sp>
        <p:nvSpPr>
          <p:cNvPr id="100005" name="Title"/>
          <p:cNvSpPr txBox="1"/>
          <p:nvPr/>
        </p:nvSpPr>
        <p:spPr>
          <a:xfrm>
            <a:off x="540000" y="720000"/>
            <a:ext cx="10080000" cy="9000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r>
              <a:rPr lang="en-US" sz="3400" b="1">
                <a:solidFill>
                  <a:srgbClr val="FFFFFF"/>
                </a:solidFill>
                <a:latin typeface="Times New Roman"/>
                <a:cs typeface="Times New Roman"/>
              </a:rPr>
              <a:t>Forgery Is Invisible To The Naked Eye.</a:t>
            </a:r>
          </a:p>
        </p:txBody>
      </p:sp>
      <p:sp>
        <p:nvSpPr>
          <p:cNvPr id="100006" name="Stat1"/>
          <p:cNvSpPr txBox="1"/>
          <p:nvPr/>
        </p:nvSpPr>
        <p:spPr>
          <a:xfrm>
            <a:off x="540000" y="2331329"/>
            <a:ext cx="2880000" cy="1080000"/>
          </a:xfrm>
          <a:prstGeom prst="rect">
            <a:avLst/>
          </a:prstGeom>
          <a:solidFill>
            <a:srgbClr val="1E293B"/>
          </a:solidFill>
        </p:spPr>
        <p:txBody>
          <a:bodyPr lIns="91440" tIns="45720" rIns="91440" bIns="45720" anchor="t"/>
          <a:lstStyle/>
          <a:p>
            <a:r>
              <a:rPr lang="en-US" sz="1400" b="1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₹1.3L Cr+ 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document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fraud losses are reported annually in India</a:t>
            </a:r>
          </a:p>
        </p:txBody>
      </p:sp>
      <p:sp>
        <p:nvSpPr>
          <p:cNvPr id="100007" name="Stat2"/>
          <p:cNvSpPr txBox="1"/>
          <p:nvPr/>
        </p:nvSpPr>
        <p:spPr>
          <a:xfrm>
            <a:off x="3780000" y="2349000"/>
            <a:ext cx="2880000" cy="1080000"/>
          </a:xfrm>
          <a:prstGeom prst="rect">
            <a:avLst/>
          </a:prstGeom>
          <a:solidFill>
            <a:srgbClr val="1E293B"/>
          </a:solidFill>
        </p:spPr>
        <p:txBody>
          <a:bodyPr lIns="91440" tIns="45720" rIns="91440" bIns="45720" anchor="t"/>
          <a:lstStyle/>
          <a:p>
            <a:r>
              <a:rPr lang="en-US" sz="1400" b="1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Weeks 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required for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manual FSL examination per case</a:t>
            </a:r>
          </a:p>
        </p:txBody>
      </p:sp>
      <p:sp>
        <p:nvSpPr>
          <p:cNvPr id="100008" name="Stat3"/>
          <p:cNvSpPr txBox="1"/>
          <p:nvPr/>
        </p:nvSpPr>
        <p:spPr>
          <a:xfrm>
            <a:off x="7020000" y="2349000"/>
            <a:ext cx="3240000" cy="1080000"/>
          </a:xfrm>
          <a:prstGeom prst="rect">
            <a:avLst/>
          </a:prstGeom>
          <a:solidFill>
            <a:srgbClr val="1E293B"/>
          </a:solidFill>
        </p:spPr>
        <p:txBody>
          <a:bodyPr lIns="91440" tIns="45720" rIns="91440" bIns="45720" anchor="t"/>
          <a:lstStyle/>
          <a:p>
            <a:r>
              <a:rPr lang="en-US" sz="1400" b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Standard 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links findings to court-admissible format</a:t>
            </a:r>
          </a:p>
        </p:txBody>
      </p:sp>
      <p:sp>
        <p:nvSpPr>
          <p:cNvPr id="100009" name="Bottom"/>
          <p:cNvSpPr txBox="1"/>
          <p:nvPr/>
        </p:nvSpPr>
        <p:spPr>
          <a:xfrm>
            <a:off x="540000" y="4292168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0">
                <a:solidFill>
                  <a:srgbClr val="F0B9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Certificates. Agreements. Identity documents. Courts need expert opinions ---- but examiners are few and slow.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9A90A476-0F7B-7B98-FD93-ABCD37644BA1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06" grpId="0" animBg="1"/>
      <p:bldP spid="100007" grpId="0" animBg="1"/>
      <p:bldP spid="100008" grpId="0" animBg="1"/>
      <p:bldP spid="10000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" name="SlideNum"/>
          <p:cNvSpPr txBox="1"/>
          <p:nvPr/>
        </p:nvSpPr>
        <p:spPr>
          <a:xfrm>
            <a:off x="540000" y="360000"/>
            <a:ext cx="43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>
                <a:solidFill>
                  <a:srgbClr val="3B82F6"/>
                </a:solidFill>
              </a:rPr>
              <a:t>02 / THE SOLUTION</a:t>
            </a:r>
          </a:p>
        </p:txBody>
      </p:sp>
      <p:sp>
        <p:nvSpPr>
          <p:cNvPr id="100011" name="Title"/>
          <p:cNvSpPr txBox="1"/>
          <p:nvPr/>
        </p:nvSpPr>
        <p:spPr>
          <a:xfrm>
            <a:off x="540000" y="720000"/>
            <a:ext cx="10080000" cy="9000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r>
              <a:rPr lang="en-US" sz="3400" b="1">
                <a:solidFill>
                  <a:srgbClr val="FFFFFF"/>
                </a:solidFill>
                <a:latin typeface="Times New Roman"/>
                <a:cs typeface="Times New Roman"/>
              </a:rPr>
              <a:t>WHAT THE TOOL DOES.</a:t>
            </a:r>
          </a:p>
        </p:txBody>
      </p:sp>
      <p:sp>
        <p:nvSpPr>
          <p:cNvPr id="100012" name="ColA"/>
          <p:cNvSpPr txBox="1"/>
          <p:nvPr/>
        </p:nvSpPr>
        <p:spPr>
          <a:xfrm>
            <a:off x="720000" y="2664000"/>
            <a:ext cx="2520000" cy="1620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1400" b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─────────────────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File </a:t>
            </a:r>
            <a:b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.pdf, .jpg, .</a:t>
            </a:r>
            <a:r>
              <a:rPr lang="en-US" sz="140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png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.tiff, .docx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 Observations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Metadata</a:t>
            </a:r>
          </a:p>
        </p:txBody>
      </p:sp>
      <p:sp>
        <p:nvSpPr>
          <p:cNvPr id="100013" name="Arrow"/>
          <p:cNvSpPr txBox="1"/>
          <p:nvPr/>
        </p:nvSpPr>
        <p:spPr>
          <a:xfrm>
            <a:off x="3590923" y="3136258"/>
            <a:ext cx="7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3B82F6"/>
                </a:solidFill>
              </a:rPr>
              <a:t>▶</a:t>
            </a:r>
          </a:p>
        </p:txBody>
      </p:sp>
      <p:sp>
        <p:nvSpPr>
          <p:cNvPr id="100014" name="ColB"/>
          <p:cNvSpPr txBox="1"/>
          <p:nvPr/>
        </p:nvSpPr>
        <p:spPr>
          <a:xfrm>
            <a:off x="4330588" y="2664000"/>
            <a:ext cx="2700000" cy="1620000"/>
          </a:xfrm>
          <a:prstGeom prst="rect">
            <a:avLst/>
          </a:prstGeom>
          <a:solidFill>
            <a:srgbClr val="1F3A5F"/>
          </a:solidFill>
        </p:spPr>
        <p:txBody>
          <a:bodyPr lIns="91440" tIns="45720" rIns="91440" bIns="45720" anchor="t"/>
          <a:lstStyle/>
          <a:p>
            <a:r>
              <a:rPr lang="en-US" sz="1400">
                <a:solidFill>
                  <a:srgbClr val="FFFFFF"/>
                </a:solidFill>
                <a:latin typeface="Times New Roman"/>
                <a:cs typeface="Times New Roman"/>
              </a:rPr>
              <a:t>EAGLE-EYE</a:t>
            </a:r>
            <a:endParaRPr lang="en-US" sz="1400" b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0">
                <a:solidFill>
                  <a:srgbClr val="FFFFFF"/>
                </a:solidFill>
                <a:latin typeface="Arial"/>
                <a:cs typeface="Arial"/>
              </a:rPr>
              <a:t>─────────────────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MCP Analysis Server</a:t>
            </a:r>
          </a:p>
          <a:p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6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-Step Examination</a:t>
            </a:r>
          </a:p>
        </p:txBody>
      </p:sp>
      <p:sp>
        <p:nvSpPr>
          <p:cNvPr id="100015" name="Arrow2"/>
          <p:cNvSpPr txBox="1"/>
          <p:nvPr/>
        </p:nvSpPr>
        <p:spPr>
          <a:xfrm>
            <a:off x="7488155" y="3213000"/>
            <a:ext cx="7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3B82F6"/>
                </a:solidFill>
              </a:rPr>
              <a:t>▶</a:t>
            </a:r>
          </a:p>
        </p:txBody>
      </p:sp>
      <p:sp>
        <p:nvSpPr>
          <p:cNvPr id="100016" name="ColC"/>
          <p:cNvSpPr txBox="1"/>
          <p:nvPr/>
        </p:nvSpPr>
        <p:spPr>
          <a:xfrm>
            <a:off x="8388155" y="2619000"/>
            <a:ext cx="2520000" cy="1620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1400" b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─────────────────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Standards Mapping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Court-Ready Report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FA2692AF-28C0-B1E0-152A-F2C81CED5AF8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3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12" grpId="0" animBg="1"/>
      <p:bldP spid="100014" grpId="0" animBg="1"/>
      <p:bldP spid="1000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637E-3267-3913-AFA5-1ECAB212F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2DCBE-8AE5-905C-A074-13FAE06111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21C0A-42DC-F0FB-2766-D1362A2F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1230" cy="62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56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" name="SlideNum"/>
          <p:cNvSpPr txBox="1"/>
          <p:nvPr/>
        </p:nvSpPr>
        <p:spPr>
          <a:xfrm>
            <a:off x="540000" y="360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>
                <a:solidFill>
                  <a:srgbClr val="3B82F6"/>
                </a:solidFill>
              </a:rPr>
              <a:t>03 / HOW IT'S BUILT</a:t>
            </a:r>
          </a:p>
        </p:txBody>
      </p:sp>
      <p:sp>
        <p:nvSpPr>
          <p:cNvPr id="100018" name="Title"/>
          <p:cNvSpPr txBox="1"/>
          <p:nvPr/>
        </p:nvSpPr>
        <p:spPr>
          <a:xfrm>
            <a:off x="540000" y="720000"/>
            <a:ext cx="10080000" cy="7200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r>
              <a:rPr lang="en-US" sz="3000" b="1">
                <a:solidFill>
                  <a:srgbClr val="FFFFFF"/>
                </a:solidFill>
                <a:latin typeface="Times New Roman"/>
                <a:cs typeface="Times New Roman"/>
              </a:rPr>
              <a:t>Four Bob-Native Layers. </a:t>
            </a:r>
          </a:p>
        </p:txBody>
      </p:sp>
      <p:sp>
        <p:nvSpPr>
          <p:cNvPr id="100019" name="L1"/>
          <p:cNvSpPr txBox="1"/>
          <p:nvPr/>
        </p:nvSpPr>
        <p:spPr>
          <a:xfrm>
            <a:off x="540000" y="1620000"/>
            <a:ext cx="10080000" cy="648000"/>
          </a:xfrm>
          <a:prstGeom prst="rect">
            <a:avLst/>
          </a:prstGeom>
          <a:solidFill>
            <a:srgbClr val="1E293B"/>
          </a:solidFill>
        </p:spPr>
        <p:txBody>
          <a:bodyPr lIns="91440" tIns="45720" rIns="91440" bIns="45720" anchor="t"/>
          <a:lstStyle/>
          <a:p>
            <a:r>
              <a:rPr lang="en-US" sz="1400" b="1">
                <a:solidFill>
                  <a:srgbClr val="CBD5E1"/>
                </a:solidFill>
                <a:latin typeface="Arial Black" panose="020B0A04020102020204" pitchFamily="34" charset="0"/>
              </a:rPr>
              <a:t>🔴  Custom Bob Mode</a:t>
            </a:r>
          </a:p>
          <a:p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</a:rPr>
              <a:t>Forensic-examiner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QD Examiner persona trained on ASTM E2388, FSL protocols, Indian Evidence Act §45</a:t>
            </a:r>
            <a:endParaRPr lang="en-US" sz="1400" b="0">
              <a:solidFill>
                <a:schemeClr val="accent6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0020" name="L2"/>
          <p:cNvSpPr txBox="1"/>
          <p:nvPr/>
        </p:nvSpPr>
        <p:spPr>
          <a:xfrm>
            <a:off x="540000" y="2340000"/>
            <a:ext cx="10080000" cy="648000"/>
          </a:xfrm>
          <a:prstGeom prst="rect">
            <a:avLst/>
          </a:prstGeom>
          <a:solidFill>
            <a:srgbClr val="1E293B"/>
          </a:solidFill>
        </p:spPr>
        <p:txBody>
          <a:bodyPr lIns="91440" tIns="45720" rIns="91440" bIns="45720" anchor="t"/>
          <a:lstStyle/>
          <a:p>
            <a:r>
              <a:rPr lang="en-US" sz="1400" b="0">
                <a:solidFill>
                  <a:srgbClr val="CBD5E1"/>
                </a:solidFill>
                <a:latin typeface="Arial Black"/>
              </a:rPr>
              <a:t>🟠  MCP Server — eagleeye-forensics</a:t>
            </a:r>
          </a:p>
          <a:p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Classify 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anomaly · </a:t>
            </a:r>
            <a:r>
              <a:rPr lang="en-US" sz="14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score_forgery_confidence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 · </a:t>
            </a:r>
            <a:r>
              <a:rPr lang="en-US" sz="14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map_to_standards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 · </a:t>
            </a:r>
            <a:r>
              <a:rPr lang="en-US" sz="14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fetch_case_precedents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 · </a:t>
            </a:r>
            <a:r>
              <a:rPr lang="en-US" sz="14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generate_expert_report</a:t>
            </a:r>
            <a:endParaRPr lang="en-US" sz="1400" b="0">
              <a:solidFill>
                <a:schemeClr val="accent6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0021" name="L3"/>
          <p:cNvSpPr txBox="1"/>
          <p:nvPr/>
        </p:nvSpPr>
        <p:spPr>
          <a:xfrm>
            <a:off x="540000" y="3060000"/>
            <a:ext cx="10080000" cy="648000"/>
          </a:xfrm>
          <a:prstGeom prst="rect">
            <a:avLst/>
          </a:prstGeom>
          <a:solidFill>
            <a:srgbClr val="1E293B"/>
          </a:solidFill>
        </p:spPr>
        <p:txBody>
          <a:bodyPr lIns="91440" tIns="45720" rIns="91440" bIns="45720" anchor="t"/>
          <a:lstStyle/>
          <a:p>
            <a:r>
              <a:rPr lang="en-US" sz="1400" b="0">
                <a:solidFill>
                  <a:srgbClr val="CBD5E1"/>
                </a:solidFill>
                <a:latin typeface="Arial Black" panose="020B0A04020102020204" pitchFamily="34" charset="0"/>
              </a:rPr>
              <a:t>🟡  Bob Skills — Domain Injection</a:t>
            </a:r>
          </a:p>
          <a:p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Questioned-documents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 · digital-forgery-patterns · signature-analysis · court-report-format</a:t>
            </a:r>
            <a:endParaRPr lang="en-US" sz="1400" b="0">
              <a:solidFill>
                <a:schemeClr val="accent6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0022" name="L4"/>
          <p:cNvSpPr txBox="1"/>
          <p:nvPr/>
        </p:nvSpPr>
        <p:spPr>
          <a:xfrm>
            <a:off x="540000" y="3780000"/>
            <a:ext cx="10080000" cy="648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rgbClr val="CBD5E1"/>
                </a:solidFill>
                <a:latin typeface="Arial Black" panose="020B0A04020102020204" pitchFamily="34" charset="0"/>
              </a:rPr>
              <a:t>🟢  Structured JSON Case File</a:t>
            </a:r>
          </a:p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Reproducible, auditable input — eliminates ambiguity across every examination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A3D5BA65-BD3A-5B70-8D37-96AED1BEF4C9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19" grpId="0" animBg="1"/>
      <p:bldP spid="100020" grpId="0" animBg="1"/>
      <p:bldP spid="100021" grpId="0" animBg="1"/>
      <p:bldP spid="1000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3" name="SlideNum"/>
          <p:cNvSpPr txBox="1"/>
          <p:nvPr/>
        </p:nvSpPr>
        <p:spPr>
          <a:xfrm>
            <a:off x="540000" y="360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>
                <a:solidFill>
                  <a:srgbClr val="3B82F6"/>
                </a:solidFill>
              </a:rPr>
              <a:t>04 / THE WORKFLOW</a:t>
            </a:r>
          </a:p>
        </p:txBody>
      </p:sp>
      <p:sp>
        <p:nvSpPr>
          <p:cNvPr id="100024" name="Title"/>
          <p:cNvSpPr txBox="1"/>
          <p:nvPr/>
        </p:nvSpPr>
        <p:spPr>
          <a:xfrm>
            <a:off x="540000" y="720000"/>
            <a:ext cx="10080000" cy="7200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r>
              <a:rPr lang="en-US" sz="3000" b="1">
                <a:solidFill>
                  <a:srgbClr val="FFFFFF"/>
                </a:solidFill>
                <a:latin typeface="Times New Roman"/>
                <a:cs typeface="Times New Roman"/>
              </a:rPr>
              <a:t>5 Steps. 1 Report. Courtroom-Ready.</a:t>
            </a:r>
          </a:p>
        </p:txBody>
      </p:sp>
      <p:sp>
        <p:nvSpPr>
          <p:cNvPr id="100025" name="S1"/>
          <p:cNvSpPr txBox="1"/>
          <p:nvPr/>
        </p:nvSpPr>
        <p:spPr>
          <a:xfrm>
            <a:off x="360000" y="2160000"/>
            <a:ext cx="1980000" cy="144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</a:rPr>
              <a:t>① </a:t>
            </a:r>
            <a:r>
              <a:rPr lang="en-US" sz="1300" b="1">
                <a:solidFill>
                  <a:srgbClr val="FFFFFF"/>
                </a:solidFill>
              </a:rPr>
              <a:t>Upload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case file +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observations</a:t>
            </a:r>
          </a:p>
        </p:txBody>
      </p:sp>
      <p:sp>
        <p:nvSpPr>
          <p:cNvPr id="100026" name="S2"/>
          <p:cNvSpPr txBox="1"/>
          <p:nvPr/>
        </p:nvSpPr>
        <p:spPr>
          <a:xfrm>
            <a:off x="2520000" y="2160000"/>
            <a:ext cx="1980000" cy="144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</a:rPr>
              <a:t>② </a:t>
            </a:r>
            <a:r>
              <a:rPr lang="en-US" sz="1300" b="1">
                <a:solidFill>
                  <a:srgbClr val="FFFFFF"/>
                </a:solidFill>
              </a:rPr>
              <a:t>Classify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Anomaly type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+ category</a:t>
            </a:r>
          </a:p>
        </p:txBody>
      </p:sp>
      <p:sp>
        <p:nvSpPr>
          <p:cNvPr id="100027" name="S3"/>
          <p:cNvSpPr txBox="1"/>
          <p:nvPr/>
        </p:nvSpPr>
        <p:spPr>
          <a:xfrm>
            <a:off x="4680000" y="2160000"/>
            <a:ext cx="1980000" cy="144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</a:rPr>
              <a:t>③ </a:t>
            </a:r>
            <a:r>
              <a:rPr lang="en-US" sz="1300" b="1">
                <a:solidFill>
                  <a:srgbClr val="FFFFFF"/>
                </a:solidFill>
              </a:rPr>
              <a:t>Score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Forgery confidence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0–100%</a:t>
            </a:r>
          </a:p>
        </p:txBody>
      </p:sp>
      <p:sp>
        <p:nvSpPr>
          <p:cNvPr id="100028" name="S4"/>
          <p:cNvSpPr txBox="1"/>
          <p:nvPr/>
        </p:nvSpPr>
        <p:spPr>
          <a:xfrm>
            <a:off x="6840000" y="2160000"/>
            <a:ext cx="1980000" cy="144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</a:rPr>
              <a:t>④ </a:t>
            </a:r>
            <a:r>
              <a:rPr lang="en-US" sz="1300" b="1">
                <a:solidFill>
                  <a:srgbClr val="FFFFFF"/>
                </a:solidFill>
              </a:rPr>
              <a:t>Map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ASTM E2388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FSL checklist</a:t>
            </a:r>
          </a:p>
        </p:txBody>
      </p:sp>
      <p:sp>
        <p:nvSpPr>
          <p:cNvPr id="100029" name="S5"/>
          <p:cNvSpPr txBox="1"/>
          <p:nvPr/>
        </p:nvSpPr>
        <p:spPr>
          <a:xfrm>
            <a:off x="9000000" y="2160000"/>
            <a:ext cx="1980000" cy="1440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rPr lang="en-US" sz="1300" b="0">
                <a:solidFill>
                  <a:schemeClr val="bg1"/>
                </a:solidFill>
              </a:rPr>
              <a:t>⑤ </a:t>
            </a:r>
            <a:r>
              <a:rPr lang="en-US" sz="1300" b="1">
                <a:solidFill>
                  <a:schemeClr val="bg1"/>
                </a:solidFill>
              </a:rPr>
              <a:t>Report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Court-admissible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+ declaration</a:t>
            </a:r>
          </a:p>
        </p:txBody>
      </p:sp>
      <p:sp>
        <p:nvSpPr>
          <p:cNvPr id="100030" name="Example"/>
          <p:cNvSpPr txBox="1"/>
          <p:nvPr/>
        </p:nvSpPr>
        <p:spPr>
          <a:xfrm>
            <a:off x="369058" y="4698000"/>
            <a:ext cx="106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0">
                <a:solidFill>
                  <a:srgbClr val="F0B970"/>
                </a:solidFill>
              </a:rPr>
              <a:t>Real output example:  COVID Certificate  →  Typography Forgery  →  87% Confidence  →  ASTM E2388 §4.2 triggered  →  Expert Opinion signed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B45B246B-4A1E-82E9-F4B8-F3C32D29F7E1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5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25" grpId="0" animBg="1"/>
      <p:bldP spid="100026" grpId="0" animBg="1"/>
      <p:bldP spid="100027" grpId="0" animBg="1"/>
      <p:bldP spid="100028" grpId="0" animBg="1"/>
      <p:bldP spid="100029" grpId="0" animBg="1"/>
      <p:bldP spid="1000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1" name="SlideNum"/>
          <p:cNvSpPr txBox="1"/>
          <p:nvPr/>
        </p:nvSpPr>
        <p:spPr>
          <a:xfrm>
            <a:off x="540000" y="360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>
                <a:solidFill>
                  <a:srgbClr val="3B82F6"/>
                </a:solidFill>
              </a:rPr>
              <a:t>05 / THE OUTPUT</a:t>
            </a:r>
          </a:p>
        </p:txBody>
      </p:sp>
      <p:sp>
        <p:nvSpPr>
          <p:cNvPr id="100032" name="Title"/>
          <p:cNvSpPr txBox="1"/>
          <p:nvPr/>
        </p:nvSpPr>
        <p:spPr>
          <a:xfrm>
            <a:off x="540000" y="720000"/>
            <a:ext cx="10080000" cy="7200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r>
              <a:rPr lang="en-US" sz="3400" b="1">
                <a:solidFill>
                  <a:srgbClr val="FFFFFF"/>
                </a:solidFill>
                <a:latin typeface="Times New Roman"/>
                <a:cs typeface="Times New Roman"/>
              </a:rPr>
              <a:t>What a Judge Actually Receives.</a:t>
            </a:r>
          </a:p>
        </p:txBody>
      </p:sp>
      <p:sp>
        <p:nvSpPr>
          <p:cNvPr id="100033" name="Report"/>
          <p:cNvSpPr txBox="1"/>
          <p:nvPr/>
        </p:nvSpPr>
        <p:spPr>
          <a:xfrm>
            <a:off x="540000" y="1620000"/>
            <a:ext cx="6120000" cy="2371897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300" b="1">
                <a:solidFill>
                  <a:srgbClr val="CBD5E1"/>
                </a:solidFill>
              </a:rPr>
              <a:t>EXPERT OPINION REPORT  |  Case No: EE-2024-001</a:t>
            </a:r>
          </a:p>
          <a:p>
            <a:r>
              <a:rPr lang="en-US" sz="1300" b="0">
                <a:solidFill>
                  <a:srgbClr val="CBD5E1"/>
                </a:solidFill>
              </a:rPr>
              <a:t>─────────────────────────────────────────────</a:t>
            </a:r>
          </a:p>
          <a:p>
            <a:r>
              <a:rPr lang="en-US" sz="1300" b="0">
                <a:solidFill>
                  <a:srgbClr val="CBD5E1"/>
                </a:solidFill>
              </a:rPr>
              <a:t>1. Brief Facts &amp; Nature of Document</a:t>
            </a:r>
          </a:p>
          <a:p>
            <a:r>
              <a:rPr lang="en-US" sz="1300" b="0">
                <a:solidFill>
                  <a:srgbClr val="CBD5E1"/>
                </a:solidFill>
              </a:rPr>
              <a:t>2. Documents Received for Examination</a:t>
            </a:r>
          </a:p>
          <a:p>
            <a:r>
              <a:rPr lang="en-US" sz="1300" b="0">
                <a:solidFill>
                  <a:srgbClr val="CBD5E1"/>
                </a:solidFill>
              </a:rPr>
              <a:t>3. Examination Conducted</a:t>
            </a:r>
          </a:p>
          <a:p>
            <a:r>
              <a:rPr lang="en-US" sz="1300" b="0">
                <a:solidFill>
                  <a:srgbClr val="CBD5E1"/>
                </a:solidFill>
              </a:rPr>
              <a:t>   3.1 Physical  ·  3.2 Typographic  ·  3.3 Signature  ·  3.4 Digital</a:t>
            </a:r>
          </a:p>
          <a:p>
            <a:r>
              <a:rPr lang="en-US" sz="1300" b="0">
                <a:solidFill>
                  <a:srgbClr val="CBD5E1"/>
                </a:solidFill>
              </a:rPr>
              <a:t>4. Findings  —  Anomaly Table + Standards Referenced</a:t>
            </a:r>
          </a:p>
          <a:p>
            <a:r>
              <a:rPr lang="en-US" sz="1300" b="0">
                <a:solidFill>
                  <a:srgbClr val="CBD5E1"/>
                </a:solidFill>
              </a:rPr>
              <a:t>5. Opinion</a:t>
            </a:r>
          </a:p>
          <a:p>
            <a:r>
              <a:rPr lang="en-US" sz="1300" b="0">
                <a:solidFill>
                  <a:srgbClr val="CBD5E1"/>
                </a:solidFill>
              </a:rPr>
              <a:t>   "HIGH probability of forgery. Confidence: 87%"</a:t>
            </a:r>
          </a:p>
          <a:p>
            <a:r>
              <a:rPr lang="en-US" sz="1300" b="0">
                <a:solidFill>
                  <a:srgbClr val="CBD5E1"/>
                </a:solidFill>
              </a:rPr>
              <a:t>6. Declaration — Indian Evidence Act, Section 45</a:t>
            </a:r>
          </a:p>
          <a:p>
            <a:r>
              <a:rPr lang="en-US" sz="1300" b="0">
                <a:solidFill>
                  <a:srgbClr val="CBD5E1"/>
                </a:solidFill>
              </a:rPr>
              <a:t>7. Examiner Credentials &amp; Signature</a:t>
            </a:r>
          </a:p>
        </p:txBody>
      </p:sp>
      <p:sp>
        <p:nvSpPr>
          <p:cNvPr id="100034" name="Callout"/>
          <p:cNvSpPr txBox="1"/>
          <p:nvPr/>
        </p:nvSpPr>
        <p:spPr>
          <a:xfrm>
            <a:off x="7020000" y="1620000"/>
            <a:ext cx="3600000" cy="985548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500" b="0">
                <a:solidFill>
                  <a:srgbClr val="FFFFFF"/>
                </a:solidFill>
              </a:rPr>
              <a:t>✓  Section 45 compliant</a:t>
            </a:r>
          </a:p>
          <a:p>
            <a:r>
              <a:rPr lang="en-US" sz="1500" b="0">
                <a:solidFill>
                  <a:srgbClr val="FFFFFF"/>
                </a:solidFill>
              </a:rPr>
              <a:t>✓  Standards cited inline</a:t>
            </a:r>
          </a:p>
          <a:p>
            <a:r>
              <a:rPr lang="en-US" sz="1500" b="0">
                <a:solidFill>
                  <a:srgbClr val="FFFFFF"/>
                </a:solidFill>
              </a:rPr>
              <a:t>✓  Confidence with reasoning</a:t>
            </a:r>
          </a:p>
          <a:p>
            <a:r>
              <a:rPr lang="en-US" sz="1500" b="0">
                <a:solidFill>
                  <a:srgbClr val="FFFFFF"/>
                </a:solidFill>
              </a:rPr>
              <a:t>✓  Zero ambiguity for court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3D1FF966-05AB-926A-CF75-9149F568806A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6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33" grpId="0" animBg="1"/>
      <p:bldP spid="1000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" name="SlideNum"/>
          <p:cNvSpPr txBox="1"/>
          <p:nvPr/>
        </p:nvSpPr>
        <p:spPr>
          <a:xfrm>
            <a:off x="540000" y="360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>
                <a:solidFill>
                  <a:srgbClr val="3B82F6"/>
                </a:solidFill>
              </a:rPr>
              <a:t>06 / WHY IT WINS</a:t>
            </a:r>
          </a:p>
        </p:txBody>
      </p:sp>
      <p:sp>
        <p:nvSpPr>
          <p:cNvPr id="100036" name="Title"/>
          <p:cNvSpPr txBox="1"/>
          <p:nvPr/>
        </p:nvSpPr>
        <p:spPr>
          <a:xfrm>
            <a:off x="540000" y="720000"/>
            <a:ext cx="10080000" cy="7200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r>
              <a:rPr lang="en-US" sz="2800" b="1">
                <a:solidFill>
                  <a:srgbClr val="FFFFFF"/>
                </a:solidFill>
                <a:latin typeface="Times New Roman"/>
                <a:cs typeface="Times New Roman"/>
              </a:rPr>
              <a:t>Every Layer Is a Product Feature, Not a Prompt.</a:t>
            </a:r>
          </a:p>
        </p:txBody>
      </p:sp>
      <p:sp>
        <p:nvSpPr>
          <p:cNvPr id="100037" name="R1H"/>
          <p:cNvSpPr txBox="1"/>
          <p:nvPr/>
        </p:nvSpPr>
        <p:spPr>
          <a:xfrm>
            <a:off x="540000" y="1620000"/>
            <a:ext cx="396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F6"/>
                </a:solidFill>
              </a:rPr>
              <a:t>WHAT</a:t>
            </a:r>
          </a:p>
        </p:txBody>
      </p:sp>
      <p:sp>
        <p:nvSpPr>
          <p:cNvPr id="100038" name="R1V"/>
          <p:cNvSpPr txBox="1"/>
          <p:nvPr/>
        </p:nvSpPr>
        <p:spPr>
          <a:xfrm>
            <a:off x="4860000" y="1620000"/>
            <a:ext cx="61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F6"/>
                </a:solidFill>
              </a:rPr>
              <a:t>WHY IT MATTERS</a:t>
            </a:r>
          </a:p>
        </p:txBody>
      </p:sp>
      <p:sp>
        <p:nvSpPr>
          <p:cNvPr id="100039" name="Row1"/>
          <p:cNvSpPr txBox="1"/>
          <p:nvPr/>
        </p:nvSpPr>
        <p:spPr>
          <a:xfrm>
            <a:off x="540000" y="1944000"/>
            <a:ext cx="3960000" cy="324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Domain-specific Bob Mode</a:t>
            </a:r>
          </a:p>
        </p:txBody>
      </p:sp>
      <p:sp>
        <p:nvSpPr>
          <p:cNvPr id="100040" name="Row1V"/>
          <p:cNvSpPr txBox="1"/>
          <p:nvPr/>
        </p:nvSpPr>
        <p:spPr>
          <a:xfrm>
            <a:off x="4860000" y="1944000"/>
            <a:ext cx="6120000" cy="324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Calibrated forensic persona — not generic AI reasoning</a:t>
            </a:r>
          </a:p>
        </p:txBody>
      </p:sp>
      <p:sp>
        <p:nvSpPr>
          <p:cNvPr id="100041" name="Row2"/>
          <p:cNvSpPr txBox="1"/>
          <p:nvPr/>
        </p:nvSpPr>
        <p:spPr>
          <a:xfrm>
            <a:off x="540000" y="2340000"/>
            <a:ext cx="3960000" cy="324000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MCP-backed real analysis</a:t>
            </a:r>
          </a:p>
        </p:txBody>
      </p:sp>
      <p:sp>
        <p:nvSpPr>
          <p:cNvPr id="100042" name="Row2V"/>
          <p:cNvSpPr txBox="1"/>
          <p:nvPr/>
        </p:nvSpPr>
        <p:spPr>
          <a:xfrm>
            <a:off x="4860000" y="2340000"/>
            <a:ext cx="6120000" cy="324000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actual forensic algorithms, not approximations</a:t>
            </a:r>
          </a:p>
        </p:txBody>
      </p:sp>
      <p:sp>
        <p:nvSpPr>
          <p:cNvPr id="100043" name="Row3"/>
          <p:cNvSpPr txBox="1"/>
          <p:nvPr/>
        </p:nvSpPr>
        <p:spPr>
          <a:xfrm>
            <a:off x="540000" y="2736000"/>
            <a:ext cx="3960000" cy="324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Standards mapping</a:t>
            </a:r>
          </a:p>
        </p:txBody>
      </p:sp>
      <p:sp>
        <p:nvSpPr>
          <p:cNvPr id="100044" name="Row3V"/>
          <p:cNvSpPr txBox="1"/>
          <p:nvPr/>
        </p:nvSpPr>
        <p:spPr>
          <a:xfrm>
            <a:off x="4860000" y="2736000"/>
            <a:ext cx="6120000" cy="324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ASTM E2388, FSL, IS 1921 — findings are legally anchored</a:t>
            </a:r>
          </a:p>
        </p:txBody>
      </p:sp>
      <p:sp>
        <p:nvSpPr>
          <p:cNvPr id="100045" name="Row4"/>
          <p:cNvSpPr txBox="1"/>
          <p:nvPr/>
        </p:nvSpPr>
        <p:spPr>
          <a:xfrm>
            <a:off x="540000" y="3132000"/>
            <a:ext cx="3960000" cy="324000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Explainable confidence score</a:t>
            </a:r>
          </a:p>
        </p:txBody>
      </p:sp>
      <p:sp>
        <p:nvSpPr>
          <p:cNvPr id="100046" name="Row4V"/>
          <p:cNvSpPr txBox="1"/>
          <p:nvPr/>
        </p:nvSpPr>
        <p:spPr>
          <a:xfrm>
            <a:off x="4860000" y="3132000"/>
            <a:ext cx="6120000" cy="324000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Judges can </a:t>
            </a:r>
            <a:r>
              <a:rPr lang="en-US" sz="14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scrutinise</a:t>
            </a:r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reasoning — not just the number</a:t>
            </a:r>
          </a:p>
        </p:txBody>
      </p:sp>
      <p:sp>
        <p:nvSpPr>
          <p:cNvPr id="100047" name="Row5"/>
          <p:cNvSpPr txBox="1"/>
          <p:nvPr/>
        </p:nvSpPr>
        <p:spPr>
          <a:xfrm>
            <a:off x="540000" y="3528000"/>
            <a:ext cx="3960000" cy="324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Instant court-format report</a:t>
            </a:r>
          </a:p>
        </p:txBody>
      </p:sp>
      <p:sp>
        <p:nvSpPr>
          <p:cNvPr id="100048" name="Row5V"/>
          <p:cNvSpPr txBox="1"/>
          <p:nvPr/>
        </p:nvSpPr>
        <p:spPr>
          <a:xfrm>
            <a:off x="4860000" y="3528000"/>
            <a:ext cx="6120000" cy="324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14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Section 45 declaration generated automatically — zero drafting time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55B92CF3-2B5D-5847-27DD-BA165EC8BC14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7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0" grpId="0" animBg="1"/>
      <p:bldP spid="100042" grpId="0" animBg="1"/>
      <p:bldP spid="100044" grpId="0" animBg="1"/>
      <p:bldP spid="100046" grpId="0" animBg="1"/>
      <p:bldP spid="1000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9" name="SlideNum"/>
          <p:cNvSpPr txBox="1"/>
          <p:nvPr/>
        </p:nvSpPr>
        <p:spPr>
          <a:xfrm>
            <a:off x="540000" y="360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1">
                <a:solidFill>
                  <a:srgbClr val="3B82F6"/>
                </a:solidFill>
              </a:rPr>
              <a:t>07 / TECH STACK</a:t>
            </a:r>
          </a:p>
        </p:txBody>
      </p:sp>
      <p:sp>
        <p:nvSpPr>
          <p:cNvPr id="100050" name="Title"/>
          <p:cNvSpPr txBox="1"/>
          <p:nvPr/>
        </p:nvSpPr>
        <p:spPr>
          <a:xfrm>
            <a:off x="540000" y="720000"/>
            <a:ext cx="10080000" cy="7200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r>
              <a:rPr lang="en-US" sz="3000" b="1">
                <a:solidFill>
                  <a:srgbClr val="FFFFFF"/>
                </a:solidFill>
                <a:latin typeface="Times New Roman"/>
                <a:cs typeface="Times New Roman"/>
              </a:rPr>
              <a:t>Built On Real Tools. No Shortcuts.</a:t>
            </a:r>
          </a:p>
        </p:txBody>
      </p:sp>
      <p:sp>
        <p:nvSpPr>
          <p:cNvPr id="100051" name="B1"/>
          <p:cNvSpPr txBox="1"/>
          <p:nvPr/>
        </p:nvSpPr>
        <p:spPr>
          <a:xfrm>
            <a:off x="540000" y="1728000"/>
            <a:ext cx="2700000" cy="90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Bob IDE</a:t>
            </a:r>
          </a:p>
          <a:p>
            <a:r>
              <a:rPr lang="en-US" sz="1400" b="0">
                <a:solidFill>
                  <a:srgbClr val="FFFFFF"/>
                </a:solidFill>
              </a:rPr>
              <a:t>Custom Mode + Skills</a:t>
            </a:r>
          </a:p>
        </p:txBody>
      </p:sp>
      <p:sp>
        <p:nvSpPr>
          <p:cNvPr id="100052" name="B2"/>
          <p:cNvSpPr txBox="1"/>
          <p:nvPr/>
        </p:nvSpPr>
        <p:spPr>
          <a:xfrm>
            <a:off x="3600000" y="1728000"/>
            <a:ext cx="2700000" cy="90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MCP Server</a:t>
            </a:r>
          </a:p>
          <a:p>
            <a:r>
              <a:rPr lang="en-US" sz="1400" b="0">
                <a:solidFill>
                  <a:srgbClr val="FFFFFF"/>
                </a:solidFill>
              </a:rPr>
              <a:t>Node.js / Python</a:t>
            </a:r>
          </a:p>
        </p:txBody>
      </p:sp>
      <p:sp>
        <p:nvSpPr>
          <p:cNvPr id="100053" name="B3"/>
          <p:cNvSpPr txBox="1"/>
          <p:nvPr/>
        </p:nvSpPr>
        <p:spPr>
          <a:xfrm>
            <a:off x="6660000" y="1728000"/>
            <a:ext cx="2700000" cy="900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</a:rPr>
              <a:t>watsonx.ai</a:t>
            </a:r>
          </a:p>
          <a:p>
            <a:r>
              <a:rPr lang="en-US" sz="1400" b="0">
                <a:solidFill>
                  <a:srgbClr val="FFFFFF"/>
                </a:solidFill>
              </a:rPr>
              <a:t>Anomaly Classification</a:t>
            </a:r>
          </a:p>
        </p:txBody>
      </p:sp>
      <p:sp>
        <p:nvSpPr>
          <p:cNvPr id="100054" name="Sub1"/>
          <p:cNvSpPr txBox="1"/>
          <p:nvPr/>
        </p:nvSpPr>
        <p:spPr>
          <a:xfrm>
            <a:off x="540000" y="2880000"/>
            <a:ext cx="2700000" cy="720000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3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exiftool</a:t>
            </a:r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 · </a:t>
            </a:r>
            <a:r>
              <a:rPr lang="en-US" sz="13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pdfinfo</a:t>
            </a:r>
            <a:endParaRPr lang="en-US" sz="1300" b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/ DOCX metadata</a:t>
            </a:r>
          </a:p>
        </p:txBody>
      </p:sp>
      <p:sp>
        <p:nvSpPr>
          <p:cNvPr id="100055" name="Sub2"/>
          <p:cNvSpPr txBox="1"/>
          <p:nvPr/>
        </p:nvSpPr>
        <p:spPr>
          <a:xfrm>
            <a:off x="3600000" y="2880000"/>
            <a:ext cx="2700000" cy="720000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OpenCV · </a:t>
            </a:r>
            <a:r>
              <a:rPr lang="en-US" sz="1300" b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PyMuPDF</a:t>
            </a:r>
            <a:endParaRPr lang="en-US" sz="1300" b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anomaly detection</a:t>
            </a:r>
          </a:p>
        </p:txBody>
      </p:sp>
      <p:sp>
        <p:nvSpPr>
          <p:cNvPr id="100056" name="Sub3"/>
          <p:cNvSpPr txBox="1"/>
          <p:nvPr/>
        </p:nvSpPr>
        <p:spPr>
          <a:xfrm>
            <a:off x="6660000" y="2880000"/>
            <a:ext cx="2700000" cy="720000"/>
          </a:xfrm>
          <a:prstGeom prst="rect">
            <a:avLst/>
          </a:prstGeom>
          <a:solidFill>
            <a:srgbClr val="131D2E"/>
          </a:solidFill>
        </p:spPr>
        <p:txBody>
          <a:bodyPr/>
          <a:lstStyle/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SQLite</a:t>
            </a:r>
          </a:p>
          <a:p>
            <a:r>
              <a:rPr lang="en-US" sz="1300" b="0">
                <a:solidFill>
                  <a:schemeClr val="accent6">
                    <a:lumMod val="60000"/>
                    <a:lumOff val="40000"/>
                  </a:schemeClr>
                </a:solidFill>
              </a:rPr>
              <a:t>Case precedents DB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BF62B428-B023-7C0C-9EB8-50FD8052E34B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8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1" grpId="0" animBg="1"/>
      <p:bldP spid="100052" grpId="0" animBg="1"/>
      <p:bldP spid="100053" grpId="0" animBg="1"/>
      <p:bldP spid="100054" grpId="0" animBg="1"/>
      <p:bldP spid="100055" grpId="0" animBg="1"/>
      <p:bldP spid="1000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7" name="Title"/>
          <p:cNvSpPr txBox="1"/>
          <p:nvPr/>
        </p:nvSpPr>
        <p:spPr>
          <a:xfrm>
            <a:off x="540000" y="709393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HAWKS</a:t>
            </a:r>
          </a:p>
        </p:txBody>
      </p:sp>
      <p:sp>
        <p:nvSpPr>
          <p:cNvPr id="100058" name="Sub"/>
          <p:cNvSpPr txBox="1"/>
          <p:nvPr/>
        </p:nvSpPr>
        <p:spPr>
          <a:xfrm>
            <a:off x="540000" y="2889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forgery — detected, scored, reported.</a:t>
            </a:r>
          </a:p>
        </p:txBody>
      </p:sp>
      <p:sp>
        <p:nvSpPr>
          <p:cNvPr id="100059" name="Footer"/>
          <p:cNvSpPr txBox="1"/>
          <p:nvPr/>
        </p:nvSpPr>
        <p:spPr>
          <a:xfrm>
            <a:off x="540000" y="4022013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0">
                <a:solidFill>
                  <a:srgbClr val="F0B970"/>
                </a:solidFill>
              </a:rPr>
              <a:t>Built on IBM Bob  ·  </a:t>
            </a:r>
            <a:r>
              <a:rPr lang="en-US" sz="1200">
                <a:solidFill>
                  <a:srgbClr val="F0B970"/>
                </a:solidFill>
              </a:rPr>
              <a:t>INNOVAI </a:t>
            </a:r>
            <a:r>
              <a:rPr lang="en-US" sz="1200" b="0">
                <a:solidFill>
                  <a:srgbClr val="F0B970"/>
                </a:solidFill>
              </a:rPr>
              <a:t>2026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E6637E66-155C-DFEB-B82D-733D85CC37EA}"/>
              </a:ext>
            </a:extLst>
          </p:cNvPr>
          <p:cNvSpPr txBox="1"/>
          <p:nvPr/>
        </p:nvSpPr>
        <p:spPr>
          <a:xfrm>
            <a:off x="540000" y="5090245"/>
            <a:ext cx="7689600" cy="475219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5BF71D4D-4BA8-0120-8AF5-9BA288CE60CE}"/>
              </a:ext>
            </a:extLst>
          </p:cNvPr>
          <p:cNvSpPr/>
          <p:nvPr/>
        </p:nvSpPr>
        <p:spPr>
          <a:xfrm>
            <a:off x="11110452" y="5574891"/>
            <a:ext cx="462116" cy="432619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9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7" grpId="0"/>
      <p:bldP spid="100058" grpId="0"/>
      <p:bldP spid="100059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revision>3</cp:revision>
  <dcterms:created xsi:type="dcterms:W3CDTF">2026-09-28T05:54:53Z</dcterms:created>
  <dcterms:modified xsi:type="dcterms:W3CDTF">2026-09-28T10:07:46Z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1.0.152</vt:lpwstr>
  </property>
  <property fmtid="{D5CDD505-2E9C-101B-9397-08002B2CF9AE}" pid="3" name="OfficeCLI.LastModified">
    <vt:lpwstr>2026-09-28T05:58:16Z</vt:lpwstr>
  </property>
</Properties>
</file>